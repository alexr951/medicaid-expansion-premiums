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oboto Black"/>
      <p:bold r:id="rId21"/>
      <p:boldItalic r:id="rId22"/>
    </p:embeddedFont>
    <p:embeddedFont>
      <p:font typeface="Oswald Medium"/>
      <p:regular r:id="rId23"/>
      <p:bold r:id="rId24"/>
    </p:embeddedFont>
    <p:embeddedFont>
      <p:font typeface="Roboto Medium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Oswald Light"/>
      <p:regular r:id="rId33"/>
      <p:bold r:id="rId34"/>
    </p:embeddedFont>
    <p:embeddedFont>
      <p:font typeface="Oswald SemiBold"/>
      <p:regular r:id="rId35"/>
      <p:bold r:id="rId36"/>
    </p:embeddedFont>
    <p:embeddedFont>
      <p:font typeface="Oswald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6A9576-3225-490B-85E5-C9D706E82BBD}">
  <a:tblStyle styleId="{B86A9576-3225-490B-85E5-C9D706E82B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Black-boldItalic.fntdata"/><Relationship Id="rId21" Type="http://schemas.openxmlformats.org/officeDocument/2006/relationships/font" Target="fonts/RobotoBlack-bold.fntdata"/><Relationship Id="rId24" Type="http://schemas.openxmlformats.org/officeDocument/2006/relationships/font" Target="fonts/OswaldMedium-bold.fntdata"/><Relationship Id="rId23" Type="http://schemas.openxmlformats.org/officeDocument/2006/relationships/font" Target="fonts/Oswald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edium-bold.fntdata"/><Relationship Id="rId25" Type="http://schemas.openxmlformats.org/officeDocument/2006/relationships/font" Target="fonts/RobotoMedium-regular.fntdata"/><Relationship Id="rId28" Type="http://schemas.openxmlformats.org/officeDocument/2006/relationships/font" Target="fonts/RobotoMedium-boldItalic.fntdata"/><Relationship Id="rId27" Type="http://schemas.openxmlformats.org/officeDocument/2006/relationships/font" Target="fonts/Roboto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33" Type="http://schemas.openxmlformats.org/officeDocument/2006/relationships/font" Target="fonts/OswaldLight-regular.fntdata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35" Type="http://schemas.openxmlformats.org/officeDocument/2006/relationships/font" Target="fonts/OswaldSemiBold-regular.fntdata"/><Relationship Id="rId12" Type="http://schemas.openxmlformats.org/officeDocument/2006/relationships/slide" Target="slides/slide6.xml"/><Relationship Id="rId34" Type="http://schemas.openxmlformats.org/officeDocument/2006/relationships/font" Target="fonts/OswaldLight-bold.fntdata"/><Relationship Id="rId15" Type="http://schemas.openxmlformats.org/officeDocument/2006/relationships/slide" Target="slides/slide9.xml"/><Relationship Id="rId37" Type="http://schemas.openxmlformats.org/officeDocument/2006/relationships/font" Target="fonts/Oswald-regular.fntdata"/><Relationship Id="rId14" Type="http://schemas.openxmlformats.org/officeDocument/2006/relationships/slide" Target="slides/slide8.xml"/><Relationship Id="rId36" Type="http://schemas.openxmlformats.org/officeDocument/2006/relationships/font" Target="fonts/OswaldSemiBo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Oswal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7ea5c8a9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7ea5c8a9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7ea5c8a9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7ea5c8a9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7ea5c8a9f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7ea5c8a9f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7ea5c8a9f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7ea5c8a9f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7ea5c8a9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7ea5c8a9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7ea5c8a9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17ea5c8a9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7ea5c8a9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17ea5c8a9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7ea5c8a9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17ea5c8a9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7ea5c8a9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7ea5c8a9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7ea5c8a9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7ea5c8a9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17ea5c8a9f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17ea5c8a9f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7ea5c8a9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7ea5c8a9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7ea5c8a9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7ea5c8a9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gular Page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370800" y="4698475"/>
            <a:ext cx="7746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Ameesh Kumar / </a:t>
            </a:r>
            <a:r>
              <a:rPr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Alex Ronczewski   </a:t>
            </a:r>
            <a:r>
              <a:rPr lang="en" sz="9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rPr>
              <a:t>Policy Analysis of the Affordable Health Care Act (ACA) on Premiums per Person</a:t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">
  <p:cSld name="SECTION_HEADER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buNone/>
              <a:defRPr sz="14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4"/>
          <p:cNvSpPr txBox="1"/>
          <p:nvPr/>
        </p:nvSpPr>
        <p:spPr>
          <a:xfrm>
            <a:off x="370800" y="4698475"/>
            <a:ext cx="539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rPr>
              <a:t>Policy Analysis of the Affordable Health Care Act (ACA) on Premiums per Person </a:t>
            </a:r>
            <a:r>
              <a:rPr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/ November 2024</a:t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4294967295" type="title"/>
          </p:nvPr>
        </p:nvSpPr>
        <p:spPr>
          <a:xfrm>
            <a:off x="474575" y="1028500"/>
            <a:ext cx="8047800" cy="20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Roboto Black"/>
                <a:ea typeface="Roboto Black"/>
                <a:cs typeface="Roboto Black"/>
                <a:sym typeface="Roboto Black"/>
              </a:rPr>
              <a:t>Policy Analysis of the Affordable Health Care Act (ACA) on Premiums per Person</a:t>
            </a:r>
            <a:endParaRPr sz="4200"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0"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58" name="Google Shape;58;p14"/>
          <p:cNvSpPr txBox="1"/>
          <p:nvPr>
            <p:ph idx="4294967295" type="body"/>
          </p:nvPr>
        </p:nvSpPr>
        <p:spPr>
          <a:xfrm>
            <a:off x="474575" y="3227000"/>
            <a:ext cx="8520600" cy="10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Ameesh Kumar 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(ID)</a:t>
            </a:r>
            <a:br>
              <a:rPr lang="en" sz="1400">
                <a:latin typeface="Roboto"/>
                <a:ea typeface="Roboto"/>
                <a:cs typeface="Roboto"/>
                <a:sym typeface="Roboto"/>
              </a:rPr>
            </a:b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Alex Ronczewski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(83793521) 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" name="Google Shape;59;p14"/>
          <p:cNvCxnSpPr/>
          <p:nvPr/>
        </p:nvCxnSpPr>
        <p:spPr>
          <a:xfrm>
            <a:off x="590750" y="2945425"/>
            <a:ext cx="891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/>
        </p:nvSpPr>
        <p:spPr>
          <a:xfrm>
            <a:off x="384048" y="91440"/>
            <a:ext cx="90213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20">
                <a:solidFill>
                  <a:schemeClr val="dk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Abstract</a:t>
            </a:r>
            <a:endParaRPr sz="2420">
              <a:solidFill>
                <a:schemeClr val="dk1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84050" y="739525"/>
            <a:ext cx="8235900" cy="3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are looking at the impact of the Affordable Care Act (ACA) on health insurance premiums in the United States. Using data from the US Department of Labor, our project employs a difference-in-difference (DiD) approach to compare 40 states that adopted the ACA with 10 that did not. The analysis focuses on per capita premiums for both experience-rated and non-experience-rated contracts. The main goal of this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project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to assess the effectiveness of the Act in improving healthcare affordability for average Americans.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4294967295" type="title"/>
          </p:nvPr>
        </p:nvSpPr>
        <p:spPr>
          <a:xfrm>
            <a:off x="387300" y="9144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Oswald SemiBold"/>
                <a:ea typeface="Oswald SemiBold"/>
                <a:cs typeface="Oswald SemiBold"/>
                <a:sym typeface="Oswald SemiBold"/>
              </a:rPr>
              <a:t>Variables 1 </a:t>
            </a:r>
            <a:endParaRPr sz="242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latin typeface="Roboto Medium"/>
                <a:ea typeface="Roboto Medium"/>
                <a:cs typeface="Roboto Medium"/>
                <a:sym typeface="Roboto Medium"/>
              </a:rPr>
              <a:t>‹#›</a:t>
            </a:fld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45720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{B86A9576-3225-490B-85E5-C9D706E82BBD}</a:tableStyleId>
              </a:tblPr>
              <a:tblGrid>
                <a:gridCol w="2507025"/>
                <a:gridCol w="734950"/>
                <a:gridCol w="1187925"/>
                <a:gridCol w="1198775"/>
                <a:gridCol w="1090200"/>
                <a:gridCol w="1325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VARIABLE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Units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Mean of Means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Mean of Standard Deviations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Overall 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Minimum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Overall 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Maximum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</a:tr>
              <a:tr h="761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INS_PRSN_COVERED_EOY_CNT </a:t>
                      </a:r>
                      <a:br>
                        <a:rPr lang="en" sz="11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</a:br>
                      <a:r>
                        <a:rPr lang="en" sz="9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(Insured Persons Covered End of Year Count)</a:t>
                      </a:r>
                      <a:endParaRPr sz="13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people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1333.67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42041.70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0.00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9999999.00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WLFR_PREMIUM_RCVD_AMT</a:t>
                      </a:r>
                      <a:br>
                        <a:rPr b="1" lang="en" sz="1100">
                          <a:solidFill>
                            <a:schemeClr val="dk1"/>
                          </a:solidFill>
                        </a:rPr>
                      </a:br>
                      <a:r>
                        <a:rPr lang="en" sz="9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(Welfare Premium Received Amount. It represents the total premiums received by the insurance company for the coverage provided during the policy year. This is only for experience-rated contracts.)</a:t>
                      </a:r>
                      <a:endParaRPr sz="12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US Dollars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2394116.44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937505906.19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-130923183.00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8701261226322.00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36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WLFR_TOT_CHARGES_PAID_AMT</a:t>
                      </a:r>
                      <a:b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</a:br>
                      <a:r>
                        <a:rPr lang="en" sz="9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(Welfare Total Charges Paid Amount. It represents the total amount of charges paid by the insurance company for claims during the policy year. This is for non-experience rated contracts.)</a:t>
                      </a:r>
                      <a:endParaRPr sz="12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 Dollars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2900620.40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1250374247.52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-50876783.00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7708480105986.00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4294967295" type="title"/>
          </p:nvPr>
        </p:nvSpPr>
        <p:spPr>
          <a:xfrm>
            <a:off x="384048" y="9144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Oswald SemiBold"/>
                <a:ea typeface="Oswald SemiBold"/>
                <a:cs typeface="Oswald SemiBold"/>
                <a:sym typeface="Oswald SemiBold"/>
              </a:rPr>
              <a:t>Variables 2</a:t>
            </a:r>
            <a:endParaRPr sz="2420"/>
          </a:p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latin typeface="Roboto Medium"/>
                <a:ea typeface="Roboto Medium"/>
                <a:cs typeface="Roboto Medium"/>
                <a:sym typeface="Roboto Medium"/>
              </a:rPr>
              <a:t>‹#›</a:t>
            </a:fld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aphicFrame>
        <p:nvGraphicFramePr>
          <p:cNvPr id="81" name="Google Shape;81;p17"/>
          <p:cNvGraphicFramePr/>
          <p:nvPr/>
        </p:nvGraphicFramePr>
        <p:xfrm>
          <a:off x="45720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{B86A9576-3225-490B-85E5-C9D706E82BBD}</a:tableStyleId>
              </a:tblPr>
              <a:tblGrid>
                <a:gridCol w="2507025"/>
                <a:gridCol w="734950"/>
                <a:gridCol w="1187925"/>
                <a:gridCol w="1198775"/>
                <a:gridCol w="1090200"/>
                <a:gridCol w="1325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VARIABLE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Units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Mean of Means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Mean of Standard Deviations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Overall 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Minimum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Overall 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Maximum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</a:tr>
              <a:tr h="761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SPONS_DFE_STATE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(This variable represents the plan sponsor / Direct Filing Entity (DFE). It indicates the state where the plan sponsor or DFE is located.)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two-letter state IDs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761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WLFR_PREMIUM_RCVD_AMT_PER_CAPITA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(Dividing WLFR_PREMIUM_RCVD_AMT by INS_PRSN_COVERED_EOY_CNT)</a:t>
                      </a:r>
                      <a:endParaRPr sz="13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people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21864.86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13302903.79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-178856.81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204126900569.05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819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WLFR_TOT_CHARGES_PAID_AMT_PER_CAPITA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(Dividing WLFR_TOT_CHARGES_PAID_AMT by INS_PRSN_COVERED_EOY_CNT)</a:t>
                      </a:r>
                      <a:endParaRPr sz="12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US Dollars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33723.96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16920728.97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-4771105.50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211823456790.11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36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ID</a:t>
                      </a:r>
                      <a:b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</a:br>
                      <a:r>
                        <a:rPr lang="en" sz="9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(plan Identification number)</a:t>
                      </a:r>
                      <a:endParaRPr sz="12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Numeric Code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idx="4294967295" type="title"/>
          </p:nvPr>
        </p:nvSpPr>
        <p:spPr>
          <a:xfrm>
            <a:off x="384048" y="9144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Oswald SemiBold"/>
                <a:ea typeface="Oswald SemiBold"/>
                <a:cs typeface="Oswald SemiBold"/>
                <a:sym typeface="Oswald SemiBold"/>
              </a:rPr>
              <a:t>Control </a:t>
            </a:r>
            <a:r>
              <a:rPr lang="en" sz="2420">
                <a:latin typeface="Oswald SemiBold"/>
                <a:ea typeface="Oswald SemiBold"/>
                <a:cs typeface="Oswald SemiBold"/>
                <a:sym typeface="Oswald SemiBold"/>
              </a:rPr>
              <a:t>Variables</a:t>
            </a:r>
            <a:endParaRPr sz="2420"/>
          </a:p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latin typeface="Roboto Medium"/>
                <a:ea typeface="Roboto Medium"/>
                <a:cs typeface="Roboto Medium"/>
                <a:sym typeface="Roboto Medium"/>
              </a:rPr>
              <a:t>‹#›</a:t>
            </a:fld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aphicFrame>
        <p:nvGraphicFramePr>
          <p:cNvPr id="88" name="Google Shape;88;p18"/>
          <p:cNvGraphicFramePr/>
          <p:nvPr/>
        </p:nvGraphicFramePr>
        <p:xfrm>
          <a:off x="45720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{B86A9576-3225-490B-85E5-C9D706E82BBD}</a:tableStyleId>
              </a:tblPr>
              <a:tblGrid>
                <a:gridCol w="2370300"/>
                <a:gridCol w="871675"/>
                <a:gridCol w="1187925"/>
                <a:gridCol w="1198775"/>
                <a:gridCol w="1090200"/>
                <a:gridCol w="1325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VARIABLE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Units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Mean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Standard 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Deviations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Overall 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Minimum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Overall 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Maximum</a:t>
                      </a:r>
                      <a:endParaRPr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</a:tr>
              <a:tr h="761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Inflation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 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Percentage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2.55%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1.63%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-0.36%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8.00%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761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Inflation Annual Change</a:t>
                      </a:r>
                      <a:endParaRPr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Percentage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0.10%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1.76%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-4.19%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3.46%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761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Market Indicator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 </a:t>
                      </a:r>
                      <a:b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</a:br>
                      <a:r>
                        <a:rPr lang="en" sz="9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(S&amp;P 500 Yearly Growth)</a:t>
                      </a:r>
                      <a:endParaRPr sz="13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Percentage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7.1780%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17.7607%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-38.49%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29.6%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819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Federal Reserve Interest Rates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 </a:t>
                      </a:r>
                      <a:br>
                        <a:rPr b="1" lang="en" sz="1100">
                          <a:solidFill>
                            <a:schemeClr val="dk1"/>
                          </a:solidFill>
                        </a:rPr>
                      </a:br>
                      <a:r>
                        <a:rPr lang="en" sz="900">
                          <a:solidFill>
                            <a:schemeClr val="dk1"/>
                          </a:solidFill>
                          <a:latin typeface="Oswald Light"/>
                          <a:ea typeface="Oswald Light"/>
                          <a:cs typeface="Oswald Light"/>
                          <a:sym typeface="Oswald Light"/>
                        </a:rPr>
                        <a:t>()</a:t>
                      </a:r>
                      <a:endParaRPr sz="1200">
                        <a:latin typeface="Oswald Light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Percentage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1.91%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1.99%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0.08%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6.24%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latin typeface="Roboto Medium"/>
                <a:ea typeface="Roboto Medium"/>
                <a:cs typeface="Roboto Medium"/>
                <a:sym typeface="Roboto Medium"/>
              </a:rPr>
              <a:t>‹#›</a:t>
            </a:fld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4" name="Google Shape;94;p19"/>
          <p:cNvSpPr txBox="1"/>
          <p:nvPr>
            <p:ph idx="4294967295" type="title"/>
          </p:nvPr>
        </p:nvSpPr>
        <p:spPr>
          <a:xfrm>
            <a:off x="384048" y="9144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Oswald SemiBold"/>
                <a:ea typeface="Oswald SemiBold"/>
                <a:cs typeface="Oswald SemiBold"/>
                <a:sym typeface="Oswald SemiBold"/>
              </a:rPr>
              <a:t>Variable over time</a:t>
            </a:r>
            <a:endParaRPr sz="2420"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" y="685800"/>
            <a:ext cx="7558030" cy="4009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0"/>
          <p:cNvSpPr txBox="1"/>
          <p:nvPr/>
        </p:nvSpPr>
        <p:spPr>
          <a:xfrm>
            <a:off x="384048" y="91440"/>
            <a:ext cx="81813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Parallel Trends</a:t>
            </a:r>
            <a:endParaRPr b="1"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56" y="620590"/>
            <a:ext cx="8167657" cy="4042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idx="4294967295" type="body"/>
          </p:nvPr>
        </p:nvSpPr>
        <p:spPr>
          <a:xfrm>
            <a:off x="384050" y="827800"/>
            <a:ext cx="7736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The method we are going to use for our analysis is a difference-in-difference (DiD) regression to find the causal effect of the Affordable Care Act (ACA) on insurance premiums per person for both Experience Rated and Non-Experience Rated plans. We have decided on this approach for three reasons. 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The implementation of the ACA creates a natural experiment where 40 states implemented it and 10 did not. 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We had data from 1999-2023 and ACA was implemented in 2010 giving us long term post and pre-treatment data. 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The implementation is also clear with the ACA becoming implemented in 2010.</a:t>
            </a:r>
            <a:endParaRPr/>
          </a:p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latin typeface="Roboto Medium"/>
                <a:ea typeface="Roboto Medium"/>
                <a:cs typeface="Roboto Medium"/>
                <a:sym typeface="Roboto Medium"/>
              </a:rPr>
              <a:t>‹#›</a:t>
            </a:fld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384048" y="91440"/>
            <a:ext cx="81813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Methodology</a:t>
            </a:r>
            <a:endParaRPr b="1"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4294967295" type="body"/>
          </p:nvPr>
        </p:nvSpPr>
        <p:spPr>
          <a:xfrm>
            <a:off x="311700" y="3784125"/>
            <a:ext cx="8520600" cy="11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 for Data cleaning for this regression to work we had to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-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Omit the years 1999, 2000 and 2004 because of the large variance and lack of data for these early years.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-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also trimmed of 1% of outliers which we saw had to be dealt with from our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minimums and maximums.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" sz="1100">
                <a:solidFill>
                  <a:schemeClr val="dk1"/>
                </a:solidFill>
                <a:highlight>
                  <a:srgbClr val="FF0000"/>
                </a:highlight>
              </a:rPr>
              <a:t>Log </a:t>
            </a:r>
            <a:r>
              <a:rPr b="1" lang="en" sz="1100">
                <a:solidFill>
                  <a:schemeClr val="dk1"/>
                </a:solidFill>
                <a:highlight>
                  <a:srgbClr val="FF0000"/>
                </a:highlight>
              </a:rPr>
              <a:t>Transform</a:t>
            </a:r>
            <a:r>
              <a:rPr b="1" lang="en" sz="1100">
                <a:solidFill>
                  <a:schemeClr val="dk1"/>
                </a:solidFill>
                <a:highlight>
                  <a:srgbClr val="FF0000"/>
                </a:highlight>
              </a:rPr>
              <a:t> Y (MAYBE)</a:t>
            </a:r>
            <a:endParaRPr b="1" sz="1100">
              <a:solidFill>
                <a:schemeClr val="dk1"/>
              </a:solidFill>
              <a:highlight>
                <a:srgbClr val="FF00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latin typeface="Roboto Medium"/>
                <a:ea typeface="Roboto Medium"/>
                <a:cs typeface="Roboto Medium"/>
                <a:sym typeface="Roboto Medium"/>
              </a:rPr>
              <a:t>‹#›</a:t>
            </a:fld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6397" y="764450"/>
            <a:ext cx="6231201" cy="634025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7" name="Google Shape;1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800" y="1521014"/>
            <a:ext cx="8110649" cy="215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384048" y="91440"/>
            <a:ext cx="81813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Regression Equation</a:t>
            </a:r>
            <a:endParaRPr b="1"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idx="4294967295" type="title"/>
          </p:nvPr>
        </p:nvSpPr>
        <p:spPr>
          <a:xfrm>
            <a:off x="384048" y="9144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400">
                <a:latin typeface="Oswald"/>
                <a:ea typeface="Oswald"/>
                <a:cs typeface="Oswald"/>
                <a:sym typeface="Oswald"/>
              </a:rPr>
              <a:t>Results of Regression (Without Controls)</a:t>
            </a:r>
            <a:endParaRPr b="1" sz="24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latin typeface="Roboto Medium"/>
                <a:ea typeface="Roboto Medium"/>
                <a:cs typeface="Roboto Medium"/>
                <a:sym typeface="Roboto Medium"/>
              </a:rPr>
              <a:t>‹#›</a:t>
            </a:fld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aphicFrame>
        <p:nvGraphicFramePr>
          <p:cNvPr id="125" name="Google Shape;125;p23"/>
          <p:cNvGraphicFramePr/>
          <p:nvPr/>
        </p:nvGraphicFramePr>
        <p:xfrm>
          <a:off x="457200" y="263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{B86A9576-3225-490B-85E5-C9D706E82BBD}</a:tableStyleId>
              </a:tblPr>
              <a:tblGrid>
                <a:gridCol w="1418450"/>
                <a:gridCol w="871600"/>
                <a:gridCol w="1145025"/>
                <a:gridCol w="1145025"/>
                <a:gridCol w="1145025"/>
                <a:gridCol w="1145025"/>
                <a:gridCol w="1145025"/>
              </a:tblGrid>
              <a:tr h="27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Non-</a:t>
                      </a:r>
                      <a:r>
                        <a:rPr lang="en" sz="1050"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Experience Rated Plans</a:t>
                      </a:r>
                      <a:endParaRPr sz="105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Coefficient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Std Error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t-stat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p-value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CI Lower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CI Upper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swald"/>
                          <a:ea typeface="Oswald"/>
                          <a:cs typeface="Oswald"/>
                          <a:sym typeface="Oswald"/>
                        </a:rPr>
                        <a:t>Constant</a:t>
                      </a:r>
                      <a:endParaRPr b="1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4.667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0.021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221.402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~</a:t>
                      </a:r>
                      <a:r>
                        <a:rPr lang="en" sz="900"/>
                        <a:t>0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4.625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4.708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ACA_State</a:t>
                      </a:r>
                      <a:endParaRPr b="1" baseline="-25000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0.681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0.024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28.132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~</a:t>
                      </a:r>
                      <a:r>
                        <a:rPr lang="en" sz="900"/>
                        <a:t>0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0.636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0.729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Post_ACA</a:t>
                      </a:r>
                      <a:endParaRPr b="1" baseline="-25000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0.303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0.029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10.318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~</a:t>
                      </a:r>
                      <a:r>
                        <a:rPr lang="en" sz="900"/>
                        <a:t>0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0.245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0.360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ACA_x_Post</a:t>
                      </a:r>
                      <a:endParaRPr b="1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-0.020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0.035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-0.567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0.570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-0.088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0.048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6" name="Google Shape;126;p23"/>
          <p:cNvGraphicFramePr/>
          <p:nvPr/>
        </p:nvGraphicFramePr>
        <p:xfrm>
          <a:off x="457200" y="66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{B86A9576-3225-490B-85E5-C9D706E82BBD}</a:tableStyleId>
              </a:tblPr>
              <a:tblGrid>
                <a:gridCol w="1418450"/>
                <a:gridCol w="871600"/>
                <a:gridCol w="1145025"/>
                <a:gridCol w="1145025"/>
                <a:gridCol w="1145025"/>
                <a:gridCol w="1145025"/>
                <a:gridCol w="1145025"/>
              </a:tblGrid>
              <a:tr h="27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Experience Rated Plans</a:t>
                      </a:r>
                      <a:endParaRPr sz="105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Coefficient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Std Error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t-stat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p-value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CI Lower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CI Upper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swald"/>
                          <a:ea typeface="Oswald"/>
                          <a:cs typeface="Oswald"/>
                          <a:sym typeface="Oswald"/>
                        </a:rPr>
                        <a:t>Constant</a:t>
                      </a:r>
                      <a:endParaRPr b="1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6.871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0.019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355.624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~</a:t>
                      </a:r>
                      <a:r>
                        <a:rPr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6.833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6.908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ACA_State</a:t>
                      </a:r>
                      <a:endParaRPr b="1" baseline="-25000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-0.209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0.023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-9.271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~</a:t>
                      </a:r>
                      <a:r>
                        <a:rPr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-0.254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-0.165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Post_ACA</a:t>
                      </a:r>
                      <a:endParaRPr b="1" baseline="-25000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0.868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0.023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37.119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~</a:t>
                      </a:r>
                      <a:r>
                        <a:rPr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0.822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0.914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ACA_x_Post</a:t>
                      </a:r>
                      <a:endParaRPr b="1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-0.093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0.029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-3.178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0.0015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-0.150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-0.035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latin typeface="Roboto Medium"/>
                <a:ea typeface="Roboto Medium"/>
                <a:cs typeface="Roboto Medium"/>
                <a:sym typeface="Roboto Medium"/>
              </a:rPr>
              <a:t>‹#›</a:t>
            </a:fld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aphicFrame>
        <p:nvGraphicFramePr>
          <p:cNvPr id="132" name="Google Shape;132;p24"/>
          <p:cNvGraphicFramePr/>
          <p:nvPr/>
        </p:nvGraphicFramePr>
        <p:xfrm>
          <a:off x="457200" y="667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{B86A9576-3225-490B-85E5-C9D706E82BBD}</a:tableStyleId>
              </a:tblPr>
              <a:tblGrid>
                <a:gridCol w="1418450"/>
                <a:gridCol w="871600"/>
                <a:gridCol w="1145025"/>
                <a:gridCol w="1145025"/>
                <a:gridCol w="1145025"/>
                <a:gridCol w="1145025"/>
                <a:gridCol w="1145025"/>
              </a:tblGrid>
              <a:tr h="27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Experience Rated Plans</a:t>
                      </a:r>
                      <a:endParaRPr sz="105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Coefficient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Std Error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t-stat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p-value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CI Lower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CI Upper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swald"/>
                          <a:ea typeface="Oswald"/>
                          <a:cs typeface="Oswald"/>
                          <a:sym typeface="Oswald"/>
                        </a:rPr>
                        <a:t>C</a:t>
                      </a:r>
                      <a:r>
                        <a:rPr b="1" lang="en" sz="1000">
                          <a:latin typeface="Oswald"/>
                          <a:ea typeface="Oswald"/>
                          <a:cs typeface="Oswald"/>
                          <a:sym typeface="Oswald"/>
                        </a:rPr>
                        <a:t>onstant</a:t>
                      </a:r>
                      <a:endParaRPr b="1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7.199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0.025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285.530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/>
                        <a:t>0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7.150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7.248</a:t>
                      </a:r>
                      <a:endParaRPr sz="85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ACA</a:t>
                      </a:r>
                      <a:r>
                        <a:rPr b="1" baseline="-25000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</a:t>
                      </a:r>
                      <a:endParaRPr b="1" baseline="-25000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-0.335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0.025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-13.335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/>
                        <a:t>~</a:t>
                      </a:r>
                      <a:r>
                        <a:rPr lang="en" sz="850"/>
                        <a:t>0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-0.385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-0.286</a:t>
                      </a:r>
                      <a:endParaRPr sz="85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Post</a:t>
                      </a:r>
                      <a:r>
                        <a:rPr b="1" baseline="-25000" lang="en" sz="10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</a:t>
                      </a:r>
                      <a:endParaRPr b="1" baseline="-25000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0.472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0.027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17.642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/>
                        <a:t>~</a:t>
                      </a:r>
                      <a:r>
                        <a:rPr lang="en" sz="850"/>
                        <a:t>0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0.420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0.524</a:t>
                      </a:r>
                      <a:endParaRPr sz="850"/>
                    </a:p>
                  </a:txBody>
                  <a:tcPr marT="91425" marB="91425" marR="91425" marL="91425"/>
                </a:tc>
              </a:tr>
              <a:tr h="3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ACA</a:t>
                      </a:r>
                      <a:r>
                        <a:rPr b="1" baseline="-25000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 </a:t>
                      </a: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* 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Post</a:t>
                      </a:r>
                      <a:r>
                        <a:rPr b="1" baseline="-25000" lang="en" sz="10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</a:t>
                      </a:r>
                      <a:endParaRPr b="1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0.083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0.032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2.614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0.009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0.021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0.145</a:t>
                      </a:r>
                      <a:endParaRPr sz="85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Inflation</a:t>
                      </a:r>
                      <a:endParaRPr b="1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4.978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0.779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6.389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0.00</a:t>
                      </a: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000000016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3.451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6.505</a:t>
                      </a:r>
                      <a:endParaRPr sz="85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Inflation Annual Change</a:t>
                      </a:r>
                      <a:endParaRPr b="1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-3.850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0.643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-5.985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0.0000000021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-5.110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-2.589</a:t>
                      </a:r>
                      <a:endParaRPr sz="85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S&amp;P Yearly Growth</a:t>
                      </a:r>
                      <a:endParaRPr b="1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0.003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0.0004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7.261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/>
                        <a:t>~</a:t>
                      </a:r>
                      <a:r>
                        <a:rPr lang="en" sz="850"/>
                        <a:t>0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0.002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0.004</a:t>
                      </a:r>
                      <a:endParaRPr sz="85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Federal Funds Rate Average Yield</a:t>
                      </a:r>
                      <a:endParaRPr b="1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-6.681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0.696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-9.593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/>
                        <a:t>~</a:t>
                      </a:r>
                      <a:r>
                        <a:rPr lang="en" sz="850"/>
                        <a:t>0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-8.045</a:t>
                      </a:r>
                      <a:endParaRPr sz="8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-5.316</a:t>
                      </a:r>
                      <a:endParaRPr sz="85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3" name="Google Shape;133;p24"/>
          <p:cNvSpPr txBox="1"/>
          <p:nvPr/>
        </p:nvSpPr>
        <p:spPr>
          <a:xfrm>
            <a:off x="384048" y="91440"/>
            <a:ext cx="81813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Results of Regression (With Controls)</a:t>
            </a:r>
            <a:endParaRPr b="1"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latin typeface="Roboto Medium"/>
                <a:ea typeface="Roboto Medium"/>
                <a:cs typeface="Roboto Medium"/>
                <a:sym typeface="Roboto Medium"/>
              </a:rPr>
              <a:t>‹#›</a:t>
            </a:fld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aphicFrame>
        <p:nvGraphicFramePr>
          <p:cNvPr id="139" name="Google Shape;139;p25"/>
          <p:cNvGraphicFramePr/>
          <p:nvPr/>
        </p:nvGraphicFramePr>
        <p:xfrm>
          <a:off x="457200" y="667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{B86A9576-3225-490B-85E5-C9D706E82BBD}</a:tableStyleId>
              </a:tblPr>
              <a:tblGrid>
                <a:gridCol w="1418450"/>
                <a:gridCol w="871600"/>
                <a:gridCol w="1145025"/>
                <a:gridCol w="1145025"/>
                <a:gridCol w="1145025"/>
                <a:gridCol w="1145025"/>
                <a:gridCol w="1145025"/>
              </a:tblGrid>
              <a:tr h="276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Non-</a:t>
                      </a:r>
                      <a:r>
                        <a:rPr lang="en" sz="1050"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Experience Rated Plans</a:t>
                      </a:r>
                      <a:endParaRPr sz="105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Coefficient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Std Error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t-stat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p-value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CI Lower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CI Upper</a:t>
                      </a:r>
                      <a:endParaRPr sz="1100"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T="91425" marB="91425" marR="91425" marL="91425" anchor="b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Oswald"/>
                          <a:ea typeface="Oswald"/>
                          <a:cs typeface="Oswald"/>
                          <a:sym typeface="Oswald"/>
                        </a:rPr>
                        <a:t>Constant</a:t>
                      </a:r>
                      <a:endParaRPr b="1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4.251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0.030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139.548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~0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4.192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4.311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ACA</a:t>
                      </a:r>
                      <a:r>
                        <a:rPr b="1" baseline="-25000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</a:t>
                      </a:r>
                      <a:endParaRPr b="1" baseline="-25000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0.754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26.579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~0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0.698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0.810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Post</a:t>
                      </a:r>
                      <a:r>
                        <a:rPr b="1" baseline="-25000" lang="en" sz="10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</a:t>
                      </a:r>
                      <a:endParaRPr b="1" baseline="-25000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0.592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0.035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16.972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~0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0.524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0.660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ACA</a:t>
                      </a:r>
                      <a:r>
                        <a:rPr b="1" baseline="-25000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 </a:t>
                      </a: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* 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Post</a:t>
                      </a:r>
                      <a:r>
                        <a:rPr b="1" baseline="-25000" lang="en" sz="100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</a:t>
                      </a:r>
                      <a:endParaRPr b="1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-0.154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0.038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-4.011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0.00006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-0.229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-0.079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Inflation</a:t>
                      </a:r>
                      <a:endParaRPr b="1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6.979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0.930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7.503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~0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5.156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8.802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Inflation Annual Change</a:t>
                      </a:r>
                      <a:endParaRPr b="1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-1.813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0.746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-2.431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0.0152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-3.275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-0.351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S&amp;P Yearly Growth</a:t>
                      </a:r>
                      <a:endParaRPr b="1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0.0001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0.0005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0.326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0.7445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-0.0009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0.001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Federal Funds Rate Average Yield</a:t>
                      </a:r>
                      <a:endParaRPr b="1" sz="1000"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8.207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0.766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10.720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~0</a:t>
                      </a:r>
                      <a:endParaRPr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6.707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9.708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0" name="Google Shape;140;p25"/>
          <p:cNvSpPr txBox="1"/>
          <p:nvPr/>
        </p:nvSpPr>
        <p:spPr>
          <a:xfrm>
            <a:off x="384048" y="91440"/>
            <a:ext cx="81813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Results of Regression (With Controls)</a:t>
            </a:r>
            <a:endParaRPr b="1"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idx="4294967295" type="title"/>
          </p:nvPr>
        </p:nvSpPr>
        <p:spPr>
          <a:xfrm>
            <a:off x="384048" y="9144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>
                <a:latin typeface="Oswald"/>
                <a:ea typeface="Oswald"/>
                <a:cs typeface="Oswald"/>
                <a:sym typeface="Oswald"/>
              </a:rPr>
              <a:t>Interpretation of Results (Regression Without Controls) </a:t>
            </a:r>
            <a:endParaRPr b="1" sz="242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6" name="Google Shape;146;p26"/>
          <p:cNvSpPr txBox="1"/>
          <p:nvPr>
            <p:ph idx="4294967295" type="body"/>
          </p:nvPr>
        </p:nvSpPr>
        <p:spPr>
          <a:xfrm>
            <a:off x="384050" y="777700"/>
            <a:ext cx="773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EXPERIENCE RATED PLANS: 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ACAs (β1):  </a:t>
            </a:r>
            <a:r>
              <a:rPr b="1" lang="en" sz="14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-0.209368</a:t>
            </a:r>
            <a:endParaRPr b="1" sz="14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ACA States had 20.94% lower premiums per person than non ACA states before the implementation of the ACA. 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Significant at p-value &lt; 0.05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ACA</a:t>
            </a:r>
            <a:r>
              <a:rPr b="1" baseline="-25000" lang="en"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S </a:t>
            </a:r>
            <a:r>
              <a:rPr b="1" lang="en"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* </a:t>
            </a: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Post</a:t>
            </a:r>
            <a:r>
              <a:rPr b="1" baseline="-25000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(β3): </a:t>
            </a:r>
            <a:r>
              <a:rPr b="1" lang="en" sz="14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-0.092507</a:t>
            </a:r>
            <a:endParaRPr b="1" sz="14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the ACA implementation premiums per person in ACA states decreased by an additional 9.25% compared to non-ACA states.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95% confidence interval is [-0.149558, -0.035456] meaning that we can assume a negative effect. 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Significant at p-value &lt; 0.05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NON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EXPERIENCE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RATED PLANS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ACAs (β1):  </a:t>
            </a:r>
            <a:r>
              <a:rPr b="1" lang="en" sz="14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0.680978</a:t>
            </a:r>
            <a:endParaRPr b="1" sz="14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ACA states had 68.10% higher premiums per person than non-ACA states before the ACA was implemented. 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Significant at p-value &lt; 0.05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ACA</a:t>
            </a:r>
            <a:r>
              <a:rPr b="1" baseline="-25000" lang="en"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S </a:t>
            </a:r>
            <a:r>
              <a:rPr b="1" lang="en"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* </a:t>
            </a: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Post</a:t>
            </a:r>
            <a:r>
              <a:rPr b="1" baseline="-25000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(β3):  </a:t>
            </a:r>
            <a:r>
              <a:rPr b="1" lang="en" sz="14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-0.019680</a:t>
            </a:r>
            <a:endParaRPr b="1" sz="14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 statistically significant (not distinguishable from 0 at p-value &lt; 0.05)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1.97% decrease in premiums per person for ACA states after the implementation of the ACA. 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Overall: For Experience Rated Plans there is evidence that premiums per person significantly decreased and for Non-Experience-Rated Plans there seems to have been no effect from the implementation of the ACA. 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latin typeface="Roboto Medium"/>
                <a:ea typeface="Roboto Medium"/>
                <a:cs typeface="Roboto Medium"/>
                <a:sym typeface="Roboto Medium"/>
              </a:rPr>
              <a:t>‹#›</a:t>
            </a:fld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48" name="Google Shape;148;p26"/>
          <p:cNvCxnSpPr/>
          <p:nvPr/>
        </p:nvCxnSpPr>
        <p:spPr>
          <a:xfrm>
            <a:off x="499400" y="1109975"/>
            <a:ext cx="74163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6"/>
          <p:cNvCxnSpPr/>
          <p:nvPr/>
        </p:nvCxnSpPr>
        <p:spPr>
          <a:xfrm>
            <a:off x="499400" y="2818775"/>
            <a:ext cx="74163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idx="4294967295" type="title"/>
          </p:nvPr>
        </p:nvSpPr>
        <p:spPr>
          <a:xfrm>
            <a:off x="384048" y="9144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>
                <a:latin typeface="Oswald"/>
                <a:ea typeface="Oswald"/>
                <a:cs typeface="Oswald"/>
                <a:sym typeface="Oswald"/>
              </a:rPr>
              <a:t>Interpretation of Results (Regression with Controls) </a:t>
            </a:r>
            <a:endParaRPr b="1" sz="242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5" name="Google Shape;155;p27"/>
          <p:cNvSpPr txBox="1"/>
          <p:nvPr>
            <p:ph idx="4294967295" type="body"/>
          </p:nvPr>
        </p:nvSpPr>
        <p:spPr>
          <a:xfrm>
            <a:off x="384048" y="77724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EXPERIENCE RATED PLANS: 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ACA</a:t>
            </a:r>
            <a:r>
              <a:rPr b="1" baseline="-25000" lang="en"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(β1): </a:t>
            </a:r>
            <a:r>
              <a:rPr b="1" lang="en" sz="14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-0.335350</a:t>
            </a:r>
            <a:endParaRPr b="1" sz="14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ACA states had 33.54% lower premiums per person than non-ACA states before the implementation of the ACA. 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Statistically significant and 95% confidence interval is [-0.384639, -0.286061] suggesting a significant negative effect. 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ACA</a:t>
            </a:r>
            <a:r>
              <a:rPr b="1" baseline="-25000" lang="en"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S </a:t>
            </a:r>
            <a:r>
              <a:rPr b="1" lang="en"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* </a:t>
            </a: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Post</a:t>
            </a:r>
            <a:r>
              <a:rPr b="1" baseline="-25000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(β3): </a:t>
            </a:r>
            <a:r>
              <a:rPr b="1" lang="en" sz="14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0.082578</a:t>
            </a:r>
            <a:endParaRPr b="1" sz="14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the ACA implementation premiums per person in ACA states increased by 8.26%.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Statistically significant with the 95% confidence interval: [0.020664, 0.144492] suggesting a significant positive effect.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NON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EXPERIENCE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RATED PLANS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ACA</a:t>
            </a:r>
            <a:r>
              <a:rPr b="1" baseline="-25000" lang="en"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(β1): </a:t>
            </a:r>
            <a:r>
              <a:rPr b="1" lang="en" sz="14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0.754043</a:t>
            </a:r>
            <a:endParaRPr b="1" sz="14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ACA states had 75.40% higher premiums per person than non-ACA states before the ACA implementation. 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95% confidence interval is [0.698440, 0.809646] suggesting a very significant positive effect. 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ACA</a:t>
            </a:r>
            <a:r>
              <a:rPr b="1" baseline="-25000" lang="en"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S </a:t>
            </a:r>
            <a:r>
              <a:rPr b="1" lang="en"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* </a:t>
            </a: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Post</a:t>
            </a:r>
            <a:r>
              <a:rPr b="1" baseline="-25000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(β3): </a:t>
            </a:r>
            <a:r>
              <a:rPr b="1" lang="en" sz="14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-0.153902</a:t>
            </a:r>
            <a:endParaRPr b="1" sz="14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the ACA implementation premiums per person in ACA states decreased by 15.39% compared to non ACA states. 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Statistically significant with the 95% confidence interval being [-0.229108, -0.078695]. 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Overall: For experience rated plans the ACA increased premiums per person while for  Non-Experience-Rated Plans it decreased them, both results are significant.  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latin typeface="Roboto Medium"/>
                <a:ea typeface="Roboto Medium"/>
                <a:cs typeface="Roboto Medium"/>
                <a:sym typeface="Roboto Medium"/>
              </a:rPr>
              <a:t>‹#›</a:t>
            </a:fld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57" name="Google Shape;157;p27"/>
          <p:cNvCxnSpPr/>
          <p:nvPr/>
        </p:nvCxnSpPr>
        <p:spPr>
          <a:xfrm>
            <a:off x="499400" y="1109975"/>
            <a:ext cx="74163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7"/>
          <p:cNvCxnSpPr/>
          <p:nvPr/>
        </p:nvCxnSpPr>
        <p:spPr>
          <a:xfrm>
            <a:off x="499400" y="2689325"/>
            <a:ext cx="74163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